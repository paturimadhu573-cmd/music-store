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286" r:id="rId6"/>
    <p:sldId id="287" r:id="rId7"/>
    <p:sldId id="260" r:id="rId8"/>
    <p:sldId id="262" r:id="rId9"/>
    <p:sldId id="288" r:id="rId10"/>
    <p:sldId id="289" r:id="rId11"/>
    <p:sldId id="290" r:id="rId12"/>
    <p:sldId id="291" r:id="rId13"/>
    <p:sldId id="292" r:id="rId14"/>
    <p:sldId id="261" r:id="rId15"/>
    <p:sldId id="263" r:id="rId16"/>
    <p:sldId id="264" r:id="rId17"/>
    <p:sldId id="265" r:id="rId18"/>
    <p:sldId id="266" r:id="rId19"/>
    <p:sldId id="267" r:id="rId20"/>
    <p:sldId id="268" r:id="rId21"/>
    <p:sldId id="269" r:id="rId22"/>
    <p:sldId id="270" r:id="rId23"/>
    <p:sldId id="272" r:id="rId24"/>
    <p:sldId id="273" r:id="rId25"/>
    <p:sldId id="275" r:id="rId26"/>
    <p:sldId id="259" r:id="rId27"/>
  </p:sldIdLst>
  <p:sldSz cx="12192000" cy="6858000"/>
  <p:notesSz cx="6858000" cy="9144000"/>
  <p:embeddedFontLst>
    <p:embeddedFont>
      <p:font typeface="Calibri" panose="020F0502020204030204"/>
      <p:regular r:id="rId31"/>
    </p:embeddedFont>
    <p:embeddedFont>
      <p:font typeface="Libre Baskerville" panose="0200000000000000000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3" d="100"/>
          <a:sy n="53" d="100"/>
        </p:scale>
        <p:origin x="11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8.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jpeg"/><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592" y="0"/>
            <a:ext cx="12190815" cy="6858000"/>
          </a:xfrm>
          <a:prstGeom prst="rect">
            <a:avLst/>
          </a:prstGeom>
          <a:noFill/>
          <a:ln>
            <a:noFill/>
          </a:ln>
        </p:spPr>
      </p:pic>
      <p:sp>
        <p:nvSpPr>
          <p:cNvPr id="99" name="Google Shape;99;p1"/>
          <p:cNvSpPr txBox="1"/>
          <p:nvPr/>
        </p:nvSpPr>
        <p:spPr>
          <a:xfrm>
            <a:off x="2472904" y="3143220"/>
            <a:ext cx="7246189" cy="11541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br>
              <a:rPr lang="en-IN" sz="3600" b="1"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IN" sz="3300" b="1">
                <a:solidFill>
                  <a:schemeClr val="dk1"/>
                </a:solidFill>
                <a:latin typeface="Calibri" panose="020F0502020204030204"/>
                <a:ea typeface="Calibri" panose="020F0502020204030204"/>
                <a:cs typeface="Calibri" panose="020F0502020204030204"/>
                <a:sym typeface="Calibri" panose="020F0502020204030204"/>
              </a:rPr>
              <a:t>MUSIC STORE MANAGEMENT SYSTEM</a:t>
            </a:r>
            <a:endParaRPr sz="33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 name="TextBox 1"/>
          <p:cNvSpPr txBox="1"/>
          <p:nvPr/>
        </p:nvSpPr>
        <p:spPr>
          <a:xfrm>
            <a:off x="128619" y="5286103"/>
            <a:ext cx="2151380" cy="1476375"/>
          </a:xfrm>
          <a:prstGeom prst="rect">
            <a:avLst/>
          </a:prstGeom>
          <a:noFill/>
        </p:spPr>
        <p:txBody>
          <a:bodyPr wrap="none" rtlCol="0">
            <a:spAutoFit/>
          </a:bodyPr>
          <a:lstStyle/>
          <a:p>
            <a:pPr algn="l"/>
            <a:r>
              <a:rPr lang="en-US" sz="1800" b="1" dirty="0"/>
              <a:t>SUBMITTED BY : </a:t>
            </a:r>
            <a:endParaRPr lang="en-US" sz="1800" b="1" dirty="0"/>
          </a:p>
          <a:p>
            <a:pPr algn="l"/>
            <a:r>
              <a:rPr lang="en-US" sz="1800" b="1" dirty="0">
                <a:sym typeface="+mn-ea"/>
              </a:rPr>
              <a:t>AMBATI SHIVA</a:t>
            </a:r>
            <a:endParaRPr lang="en-US" sz="1800" b="1" dirty="0">
              <a:sym typeface="+mn-ea"/>
            </a:endParaRPr>
          </a:p>
          <a:p>
            <a:pPr algn="l"/>
            <a:r>
              <a:rPr lang="en-US" sz="1800" b="1" dirty="0"/>
              <a:t>PATURI MADHU</a:t>
            </a:r>
            <a:endParaRPr lang="en-US" sz="1800" b="1" dirty="0"/>
          </a:p>
          <a:p>
            <a:pPr algn="l"/>
            <a:r>
              <a:rPr lang="en-US" sz="1800" b="1" dirty="0"/>
              <a:t>                             </a:t>
            </a:r>
            <a:endParaRPr lang="en-US" sz="1800" b="1" dirty="0"/>
          </a:p>
          <a:p>
            <a:pPr algn="l"/>
            <a:r>
              <a:rPr lang="en-US" sz="1800" b="1" dirty="0"/>
              <a:t>                               </a:t>
            </a:r>
            <a:endParaRPr lang="en-US"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b="1">
                <a:solidFill>
                  <a:srgbClr val="FF0000"/>
                </a:solidFill>
              </a:rPr>
              <a:t>Agenda  </a:t>
            </a:r>
            <a:endParaRPr b="1">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US" sz="2400" b="1">
                <a:latin typeface="Times New Roman" panose="02020603050405020304" pitchFamily="18" charset="0"/>
                <a:cs typeface="Times New Roman" panose="02020603050405020304" pitchFamily="18" charset="0"/>
                <a:sym typeface="+mn-ea"/>
              </a:rPr>
              <a:t>Introduction</a:t>
            </a:r>
            <a:endParaRPr lang="en-US" sz="2400" b="1">
              <a:latin typeface="Times New Roman" panose="02020603050405020304" pitchFamily="18" charset="0"/>
              <a:cs typeface="Times New Roman" panose="02020603050405020304" pitchFamily="18" charset="0"/>
              <a:sym typeface="+mn-ea"/>
            </a:endParaRPr>
          </a:p>
          <a:p>
            <a:pPr marL="457200" lvl="0" indent="-431800" algn="l" rtl="0">
              <a:lnSpc>
                <a:spcPct val="90000"/>
              </a:lnSpc>
              <a:spcBef>
                <a:spcPts val="1000"/>
              </a:spcBef>
              <a:spcAft>
                <a:spcPts val="0"/>
              </a:spcAft>
              <a:buSzPts val="2400"/>
              <a:buChar char="•"/>
            </a:pPr>
            <a:r>
              <a:rPr lang="en-US" sz="2400" b="1">
                <a:latin typeface="Times New Roman" panose="02020603050405020304" pitchFamily="18" charset="0"/>
                <a:cs typeface="Times New Roman" panose="02020603050405020304" pitchFamily="18" charset="0"/>
                <a:sym typeface="+mn-ea"/>
              </a:rPr>
              <a:t>P</a:t>
            </a:r>
            <a:r>
              <a:rPr lang="en-IN" sz="2400" b="1" err="1">
                <a:latin typeface="Times New Roman" panose="02020603050405020304" pitchFamily="18" charset="0"/>
                <a:cs typeface="Times New Roman" panose="02020603050405020304" pitchFamily="18" charset="0"/>
                <a:sym typeface="+mn-ea"/>
              </a:rPr>
              <a:t>roblem</a:t>
            </a:r>
            <a:r>
              <a:rPr lang="en-IN" sz="2400" b="1">
                <a:latin typeface="Times New Roman" panose="02020603050405020304" pitchFamily="18" charset="0"/>
                <a:cs typeface="Times New Roman" panose="02020603050405020304" pitchFamily="18" charset="0"/>
                <a:sym typeface="+mn-ea"/>
              </a:rPr>
              <a:t> Statement</a:t>
            </a:r>
            <a:endParaRPr lang="en-IN" sz="2400" b="1">
              <a:latin typeface="Times New Roman" panose="02020603050405020304" pitchFamily="18" charset="0"/>
              <a:cs typeface="Times New Roman" panose="02020603050405020304" pitchFamily="18" charset="0"/>
              <a:sym typeface="+mn-ea"/>
            </a:endParaRPr>
          </a:p>
          <a:p>
            <a:pPr marL="457200" lvl="0" indent="-431800" algn="l" rtl="0">
              <a:lnSpc>
                <a:spcPct val="90000"/>
              </a:lnSpc>
              <a:spcBef>
                <a:spcPts val="1000"/>
              </a:spcBef>
              <a:spcAft>
                <a:spcPts val="0"/>
              </a:spcAft>
              <a:buSzPts val="2400"/>
              <a:buChar char="•"/>
            </a:pPr>
            <a:r>
              <a:rPr lang="en-IN" sz="2400" b="1">
                <a:sym typeface="+mn-ea"/>
              </a:rPr>
              <a:t>Objective of the Project</a:t>
            </a:r>
            <a:endParaRPr sz="2400"/>
          </a:p>
          <a:p>
            <a:pPr marL="457200" lvl="0" indent="-431800" algn="l" rtl="0">
              <a:lnSpc>
                <a:spcPct val="90000"/>
              </a:lnSpc>
              <a:spcBef>
                <a:spcPts val="1000"/>
              </a:spcBef>
              <a:spcAft>
                <a:spcPts val="0"/>
              </a:spcAft>
              <a:buSzPts val="2400"/>
              <a:buChar char="•"/>
            </a:pPr>
            <a:r>
              <a:rPr lang="en-IN" sz="2400" b="1"/>
              <a:t>ER Diagram and schema explanation</a:t>
            </a:r>
            <a:endParaRPr sz="2400"/>
          </a:p>
          <a:p>
            <a:pPr marL="457200" lvl="0" indent="-431800" algn="l" rtl="0">
              <a:lnSpc>
                <a:spcPct val="90000"/>
              </a:lnSpc>
              <a:spcBef>
                <a:spcPts val="1000"/>
              </a:spcBef>
              <a:spcAft>
                <a:spcPts val="0"/>
              </a:spcAft>
              <a:buSzPts val="2400"/>
              <a:buChar char="•"/>
            </a:pPr>
            <a:r>
              <a:rPr lang="en-IN" sz="2400" b="1"/>
              <a:t>Key analysis questions (use cases)</a:t>
            </a:r>
            <a:endParaRPr sz="2400"/>
          </a:p>
          <a:p>
            <a:pPr marL="457200" lvl="0" indent="-431800" algn="l" rtl="0">
              <a:lnSpc>
                <a:spcPct val="90000"/>
              </a:lnSpc>
              <a:spcBef>
                <a:spcPts val="1000"/>
              </a:spcBef>
              <a:spcAft>
                <a:spcPts val="0"/>
              </a:spcAft>
              <a:buSzPts val="2400"/>
              <a:buChar char="•"/>
            </a:pPr>
            <a:r>
              <a:rPr lang="en-IN" sz="2400" b="1"/>
              <a:t>SQL query results with screenshots or summaries</a:t>
            </a:r>
            <a:endParaRPr sz="2400"/>
          </a:p>
          <a:p>
            <a:pPr marL="457200" lvl="0" indent="-431800" algn="l" rtl="0">
              <a:lnSpc>
                <a:spcPct val="90000"/>
              </a:lnSpc>
              <a:spcBef>
                <a:spcPts val="1000"/>
              </a:spcBef>
              <a:spcAft>
                <a:spcPts val="0"/>
              </a:spcAft>
              <a:buSzPts val="2400"/>
              <a:buChar char="•"/>
            </a:pPr>
            <a:r>
              <a:rPr lang="en-IN" sz="2400" b="1"/>
              <a:t>Final business insights and recommendations</a:t>
            </a:r>
            <a:endParaRPr sz="2400"/>
          </a:p>
          <a:p>
            <a:pPr marL="457200" lvl="0" indent="-431800" algn="l" rtl="0">
              <a:lnSpc>
                <a:spcPct val="90000"/>
              </a:lnSpc>
              <a:spcBef>
                <a:spcPts val="1000"/>
              </a:spcBef>
              <a:spcAft>
                <a:spcPts val="0"/>
              </a:spcAft>
              <a:buSzPts val="2400"/>
              <a:buChar char="•"/>
            </a:pPr>
            <a:r>
              <a:rPr lang="en-IN" sz="2400" b="1"/>
              <a:t>Conclusion (Key finding overall) </a:t>
            </a:r>
            <a:endParaRPr sz="2400"/>
          </a:p>
          <a:p>
            <a:pPr marL="457200" lvl="0" indent="-431800" algn="l" rtl="0">
              <a:lnSpc>
                <a:spcPct val="90000"/>
              </a:lnSpc>
              <a:spcBef>
                <a:spcPts val="1000"/>
              </a:spcBef>
              <a:spcAft>
                <a:spcPts val="0"/>
              </a:spcAft>
              <a:buSzPts val="2400"/>
              <a:buChar char="•"/>
            </a:pPr>
            <a:r>
              <a:rPr lang="en-IN" sz="2400" b="1"/>
              <a:t>Your Experience/Challenges working on SQL – Data Analysis Project.</a:t>
            </a:r>
            <a:endParaRPr sz="2400"/>
          </a:p>
          <a:p>
            <a:pPr marL="0" lvl="0" indent="0" algn="l" rtl="0">
              <a:lnSpc>
                <a:spcPct val="90000"/>
              </a:lnSpc>
              <a:spcBef>
                <a:spcPts val="1000"/>
              </a:spcBef>
              <a:spcAft>
                <a:spcPts val="0"/>
              </a:spcAft>
              <a:buClr>
                <a:schemeClr val="dk1"/>
              </a:buClr>
              <a:buSzPts val="2800"/>
              <a:buNone/>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880"/>
          </a:xfrm>
        </p:spPr>
        <p:txBody>
          <a:bodyPr/>
          <a:lstStyle/>
          <a:p>
            <a:r>
              <a:rPr lang="en-US" b="1">
                <a:latin typeface="Times New Roman" panose="02020603050405020304" pitchFamily="18" charset="0"/>
                <a:cs typeface="Times New Roman" panose="02020603050405020304" pitchFamily="18" charset="0"/>
                <a:sym typeface="+mn-ea"/>
              </a:rPr>
              <a:t>Introduction</a:t>
            </a:r>
            <a:endParaRPr lang="en-US"/>
          </a:p>
        </p:txBody>
      </p:sp>
      <p:sp>
        <p:nvSpPr>
          <p:cNvPr id="3" name="Text Placeholder 2"/>
          <p:cNvSpPr>
            <a:spLocks noGrp="1"/>
          </p:cNvSpPr>
          <p:nvPr>
            <p:ph type="body" idx="1"/>
          </p:nvPr>
        </p:nvSpPr>
        <p:spPr>
          <a:xfrm>
            <a:off x="838200" y="1825625"/>
            <a:ext cx="10515600" cy="4197985"/>
          </a:xfrm>
        </p:spPr>
        <p:txBody>
          <a:bodyPr>
            <a:normAutofit fontScale="67500" lnSpcReduction="20000"/>
          </a:bodyPr>
          <a:lstStyle/>
          <a:p>
            <a:pPr marL="0" marR="0" lvl="0" indent="0" algn="just" defTabSz="914400" rtl="0" eaLnBrk="0" fontAlgn="base" latinLnBrk="0" hangingPunct="0">
              <a:lnSpc>
                <a:spcPct val="100000"/>
              </a:lnSpc>
              <a:spcBef>
                <a:spcPct val="0"/>
              </a:spcBef>
              <a:spcAft>
                <a:spcPct val="0"/>
              </a:spcAft>
              <a:buClrTx/>
              <a:buSzTx/>
              <a:buFontTx/>
              <a:buNone/>
            </a:pPr>
            <a:r>
              <a:rPr lang="en-US" altLang="en-US" sz="3000">
                <a:ln>
                  <a:noFill/>
                </a:ln>
                <a:solidFill>
                  <a:schemeClr val="tx1"/>
                </a:solidFill>
                <a:effectLst/>
                <a:latin typeface="Times New Roman" panose="02020603050405020304" pitchFamily="18" charset="0"/>
                <a:cs typeface="Times New Roman" panose="02020603050405020304" pitchFamily="18" charset="0"/>
                <a:sym typeface="+mn-ea"/>
              </a:rPr>
              <a:t>The music industry produces vast amounts of data related to customers, artists, albums, and sales every day. Managing and analyzing this information is essential for improving performance and understanding customer preferences. Without a proper system, this data remains scattered and difficult to use effectively.</a:t>
            </a:r>
            <a:endParaRPr kumimoji="0" lang="en-US" altLang="en-US" sz="3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3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US" sz="3000">
                <a:ln>
                  <a:noFill/>
                </a:ln>
                <a:solidFill>
                  <a:schemeClr val="tx1"/>
                </a:solidFill>
                <a:effectLst/>
                <a:latin typeface="Times New Roman" panose="02020603050405020304" pitchFamily="18" charset="0"/>
                <a:cs typeface="Times New Roman" panose="02020603050405020304" pitchFamily="18" charset="0"/>
                <a:sym typeface="+mn-ea"/>
              </a:rPr>
              <a:t>The </a:t>
            </a:r>
            <a:r>
              <a:rPr lang="en-US" altLang="en-US" sz="3000" b="1">
                <a:ln>
                  <a:noFill/>
                </a:ln>
                <a:solidFill>
                  <a:schemeClr val="tx1"/>
                </a:solidFill>
                <a:effectLst/>
                <a:latin typeface="Times New Roman" panose="02020603050405020304" pitchFamily="18" charset="0"/>
                <a:cs typeface="Times New Roman" panose="02020603050405020304" pitchFamily="18" charset="0"/>
                <a:sym typeface="+mn-ea"/>
              </a:rPr>
              <a:t>Music Sotre Management System  </a:t>
            </a:r>
            <a:r>
              <a:rPr lang="en-US" altLang="en-US" sz="3000">
                <a:ln>
                  <a:noFill/>
                </a:ln>
                <a:solidFill>
                  <a:schemeClr val="tx1"/>
                </a:solidFill>
                <a:effectLst/>
                <a:latin typeface="Times New Roman" panose="02020603050405020304" pitchFamily="18" charset="0"/>
                <a:cs typeface="Times New Roman" panose="02020603050405020304" pitchFamily="18" charset="0"/>
                <a:sym typeface="+mn-ea"/>
              </a:rPr>
              <a:t>aims to organize and store all music-related information in a single, well-structured relational SQL database. It connects key entities such as </a:t>
            </a:r>
            <a:r>
              <a:rPr lang="en-US" altLang="en-US" sz="3000" b="1">
                <a:ln>
                  <a:noFill/>
                </a:ln>
                <a:solidFill>
                  <a:schemeClr val="tx1"/>
                </a:solidFill>
                <a:effectLst/>
                <a:latin typeface="Times New Roman" panose="02020603050405020304" pitchFamily="18" charset="0"/>
                <a:cs typeface="Times New Roman" panose="02020603050405020304" pitchFamily="18" charset="0"/>
                <a:sym typeface="+mn-ea"/>
              </a:rPr>
              <a:t>artists, albums, tracks, genres, employees, customers, and invoices</a:t>
            </a:r>
            <a:r>
              <a:rPr lang="en-US" altLang="en-US" sz="3000">
                <a:ln>
                  <a:noFill/>
                </a:ln>
                <a:solidFill>
                  <a:schemeClr val="tx1"/>
                </a:solidFill>
                <a:effectLst/>
                <a:latin typeface="Times New Roman" panose="02020603050405020304" pitchFamily="18" charset="0"/>
                <a:cs typeface="Times New Roman" panose="02020603050405020304" pitchFamily="18" charset="0"/>
                <a:sym typeface="+mn-ea"/>
              </a:rPr>
              <a:t>, ensuring data consistency and easy retrieval.</a:t>
            </a:r>
            <a:endParaRPr kumimoji="0" lang="en-US" altLang="en-US" sz="3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3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US" sz="3000">
                <a:ln>
                  <a:noFill/>
                </a:ln>
                <a:solidFill>
                  <a:schemeClr val="tx1"/>
                </a:solidFill>
                <a:effectLst/>
                <a:latin typeface="Times New Roman" panose="02020603050405020304" pitchFamily="18" charset="0"/>
                <a:cs typeface="Times New Roman" panose="02020603050405020304" pitchFamily="18" charset="0"/>
                <a:sym typeface="+mn-ea"/>
              </a:rPr>
              <a:t>Through this project, various </a:t>
            </a:r>
            <a:r>
              <a:rPr lang="en-US" altLang="en-US" sz="3000" b="1">
                <a:ln>
                  <a:noFill/>
                </a:ln>
                <a:solidFill>
                  <a:schemeClr val="tx1"/>
                </a:solidFill>
                <a:effectLst/>
                <a:latin typeface="Times New Roman" panose="02020603050405020304" pitchFamily="18" charset="0"/>
                <a:cs typeface="Times New Roman" panose="02020603050405020304" pitchFamily="18" charset="0"/>
                <a:sym typeface="+mn-ea"/>
              </a:rPr>
              <a:t>SQL queries and analytical operations</a:t>
            </a:r>
            <a:r>
              <a:rPr lang="en-US" altLang="en-US" sz="3000">
                <a:ln>
                  <a:noFill/>
                </a:ln>
                <a:solidFill>
                  <a:schemeClr val="tx1"/>
                </a:solidFill>
                <a:effectLst/>
                <a:latin typeface="Times New Roman" panose="02020603050405020304" pitchFamily="18" charset="0"/>
                <a:cs typeface="Times New Roman" panose="02020603050405020304" pitchFamily="18" charset="0"/>
                <a:sym typeface="+mn-ea"/>
              </a:rPr>
              <a:t> are used to generate insights like identifying top customers, best-selling artists, popular genres, and cities generating the highest revenue.</a:t>
            </a:r>
            <a:endParaRPr kumimoji="0" lang="en-US" altLang="en-US" sz="3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3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US" sz="3000">
                <a:ln>
                  <a:noFill/>
                </a:ln>
                <a:solidFill>
                  <a:schemeClr val="tx1"/>
                </a:solidFill>
                <a:effectLst/>
                <a:latin typeface="Times New Roman" panose="02020603050405020304" pitchFamily="18" charset="0"/>
                <a:cs typeface="Times New Roman" panose="02020603050405020304" pitchFamily="18" charset="0"/>
                <a:sym typeface="+mn-ea"/>
              </a:rPr>
              <a:t>Overall, the project highlights how </a:t>
            </a:r>
            <a:r>
              <a:rPr lang="en-US" altLang="en-US" sz="3000" b="1">
                <a:ln>
                  <a:noFill/>
                </a:ln>
                <a:solidFill>
                  <a:schemeClr val="tx1"/>
                </a:solidFill>
                <a:effectLst/>
                <a:latin typeface="Times New Roman" panose="02020603050405020304" pitchFamily="18" charset="0"/>
                <a:cs typeface="Times New Roman" panose="02020603050405020304" pitchFamily="18" charset="0"/>
                <a:sym typeface="+mn-ea"/>
              </a:rPr>
              <a:t>SQL-based database design and analysis</a:t>
            </a:r>
            <a:r>
              <a:rPr lang="en-US" altLang="en-US" sz="3000">
                <a:ln>
                  <a:noFill/>
                </a:ln>
                <a:solidFill>
                  <a:schemeClr val="tx1"/>
                </a:solidFill>
                <a:effectLst/>
                <a:latin typeface="Times New Roman" panose="02020603050405020304" pitchFamily="18" charset="0"/>
                <a:cs typeface="Times New Roman" panose="02020603050405020304" pitchFamily="18" charset="0"/>
                <a:sym typeface="+mn-ea"/>
              </a:rPr>
              <a:t> can transform unorganized data into useful business insights for better decision-making and operational efficiency.</a:t>
            </a: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sym typeface="+mn-ea"/>
              </a:rPr>
              <a:t>P</a:t>
            </a:r>
            <a:r>
              <a:rPr lang="en-IN" b="1" err="1">
                <a:latin typeface="Times New Roman" panose="02020603050405020304" pitchFamily="18" charset="0"/>
                <a:cs typeface="Times New Roman" panose="02020603050405020304" pitchFamily="18" charset="0"/>
                <a:sym typeface="+mn-ea"/>
              </a:rPr>
              <a:t>roblem</a:t>
            </a:r>
            <a:r>
              <a:rPr lang="en-IN" b="1">
                <a:latin typeface="Times New Roman" panose="02020603050405020304" pitchFamily="18" charset="0"/>
                <a:cs typeface="Times New Roman" panose="02020603050405020304" pitchFamily="18" charset="0"/>
                <a:sym typeface="+mn-ea"/>
              </a:rPr>
              <a:t> Statement</a:t>
            </a:r>
            <a:endParaRPr lang="en-US"/>
          </a:p>
        </p:txBody>
      </p:sp>
      <p:sp>
        <p:nvSpPr>
          <p:cNvPr id="3" name="Text Placeholder 2"/>
          <p:cNvSpPr>
            <a:spLocks noGrp="1"/>
          </p:cNvSpPr>
          <p:nvPr>
            <p:ph type="body" idx="1"/>
          </p:nvPr>
        </p:nvSpPr>
        <p:spPr/>
        <p:txBody>
          <a:bodyPr>
            <a:noAutofit/>
          </a:bodyPr>
          <a:lstStyle/>
          <a:p>
            <a:pPr marL="152400" indent="0" algn="just">
              <a:buNone/>
            </a:pPr>
            <a:r>
              <a:rPr lang="en-US" sz="2000">
                <a:latin typeface="Times New Roman" panose="02020603050405020304" pitchFamily="18" charset="0"/>
                <a:cs typeface="Times New Roman" panose="02020603050405020304" pitchFamily="18" charset="0"/>
                <a:sym typeface="+mn-ea"/>
              </a:rPr>
              <a:t> In today’s digital music industry, managing large volumes of data about artists, albums, tracks, customers, and sales is a major challenge. The data is often scattered, making it difficult to analyze performance, customer behavior, and revenue trends. To address this issue, a </a:t>
            </a:r>
            <a:r>
              <a:rPr lang="en-US" sz="2000" b="1">
                <a:latin typeface="Times New Roman" panose="02020603050405020304" pitchFamily="18" charset="0"/>
                <a:cs typeface="Times New Roman" panose="02020603050405020304" pitchFamily="18" charset="0"/>
                <a:sym typeface="+mn-ea"/>
              </a:rPr>
              <a:t>Music Store Management System</a:t>
            </a:r>
            <a:r>
              <a:rPr lang="en-US" sz="2000">
                <a:latin typeface="Times New Roman" panose="02020603050405020304" pitchFamily="18" charset="0"/>
                <a:cs typeface="Times New Roman" panose="02020603050405020304" pitchFamily="18" charset="0"/>
                <a:sym typeface="+mn-ea"/>
              </a:rPr>
              <a:t> is designed to store and manage all music-related data in a structured and centralized manner.</a:t>
            </a:r>
            <a:endParaRPr lang="en-US" sz="2000">
              <a:latin typeface="Times New Roman" panose="02020603050405020304" pitchFamily="18" charset="0"/>
              <a:cs typeface="Times New Roman" panose="02020603050405020304" pitchFamily="18" charset="0"/>
            </a:endParaRPr>
          </a:p>
          <a:p>
            <a:pPr marL="152400" indent="0" algn="just">
              <a:buNone/>
            </a:pPr>
            <a:r>
              <a:rPr lang="en-US" sz="2000">
                <a:latin typeface="Times New Roman" panose="02020603050405020304" pitchFamily="18" charset="0"/>
                <a:cs typeface="Times New Roman" panose="02020603050405020304" pitchFamily="18" charset="0"/>
                <a:sym typeface="+mn-ea"/>
              </a:rPr>
              <a:t>         </a:t>
            </a:r>
            <a:endParaRPr lang="en-US" sz="2000">
              <a:latin typeface="Times New Roman" panose="02020603050405020304" pitchFamily="18" charset="0"/>
              <a:cs typeface="Times New Roman" panose="02020603050405020304" pitchFamily="18" charset="0"/>
            </a:endParaRPr>
          </a:p>
          <a:p>
            <a:pPr marL="152400" indent="0" algn="just">
              <a:buNone/>
            </a:pPr>
            <a:r>
              <a:rPr lang="en-US" sz="2000">
                <a:latin typeface="Times New Roman" panose="02020603050405020304" pitchFamily="18" charset="0"/>
                <a:cs typeface="Times New Roman" panose="02020603050405020304" pitchFamily="18" charset="0"/>
                <a:sym typeface="+mn-ea"/>
              </a:rPr>
              <a:t>   The project focuses on creating a </a:t>
            </a:r>
            <a:r>
              <a:rPr lang="en-US" sz="2000" b="1">
                <a:latin typeface="Times New Roman" panose="02020603050405020304" pitchFamily="18" charset="0"/>
                <a:cs typeface="Times New Roman" panose="02020603050405020304" pitchFamily="18" charset="0"/>
                <a:sym typeface="+mn-ea"/>
              </a:rPr>
              <a:t>relational SQL database</a:t>
            </a:r>
            <a:r>
              <a:rPr lang="en-US" sz="2000">
                <a:latin typeface="Times New Roman" panose="02020603050405020304" pitchFamily="18" charset="0"/>
                <a:cs typeface="Times New Roman" panose="02020603050405020304" pitchFamily="18" charset="0"/>
                <a:sym typeface="+mn-ea"/>
              </a:rPr>
              <a:t> that connects key entities like employees, customers, artists, albums, invoices, and playlists. It aims to simplify data retrieval and provide insights into business performance. Through SQL queries and analytical techniques, the project helps identify </a:t>
            </a:r>
            <a:r>
              <a:rPr lang="en-US" sz="2000" b="1">
                <a:latin typeface="Times New Roman" panose="02020603050405020304" pitchFamily="18" charset="0"/>
                <a:cs typeface="Times New Roman" panose="02020603050405020304" pitchFamily="18" charset="0"/>
                <a:sym typeface="+mn-ea"/>
              </a:rPr>
              <a:t>top customers, best-selling artists, popular genres, high-revenue cities, and senior employees</a:t>
            </a:r>
            <a:r>
              <a:rPr lang="en-US" sz="2000">
                <a:latin typeface="Times New Roman" panose="02020603050405020304" pitchFamily="18" charset="0"/>
                <a:cs typeface="Times New Roman" panose="02020603050405020304" pitchFamily="18" charset="0"/>
                <a:sym typeface="+mn-ea"/>
              </a:rPr>
              <a:t>.</a:t>
            </a:r>
            <a:endParaRPr lang="en-US" sz="2000">
              <a:latin typeface="Times New Roman" panose="02020603050405020304" pitchFamily="18" charset="0"/>
              <a:cs typeface="Times New Roman" panose="02020603050405020304" pitchFamily="18" charset="0"/>
            </a:endParaRPr>
          </a:p>
          <a:p>
            <a:pPr marL="152400" indent="0" algn="just">
              <a:buNone/>
            </a:pPr>
            <a:endParaRPr lang="en-US" sz="2000">
              <a:latin typeface="Times New Roman" panose="02020603050405020304" pitchFamily="18" charset="0"/>
              <a:cs typeface="Times New Roman" panose="02020603050405020304" pitchFamily="18" charset="0"/>
            </a:endParaRPr>
          </a:p>
          <a:p>
            <a:pPr marL="152400" indent="0" algn="just">
              <a:buNone/>
            </a:pPr>
            <a:r>
              <a:rPr lang="en-US" sz="2000">
                <a:latin typeface="Times New Roman" panose="02020603050405020304" pitchFamily="18" charset="0"/>
                <a:cs typeface="Times New Roman" panose="02020603050405020304" pitchFamily="18" charset="0"/>
                <a:sym typeface="+mn-ea"/>
              </a:rPr>
              <a:t>.</a:t>
            </a:r>
            <a:endParaRPr lang="en-US" sz="2000">
              <a:latin typeface="Times New Roman" panose="02020603050405020304" pitchFamily="18" charset="0"/>
              <a:cs typeface="Times New Roman" panose="02020603050405020304" pitchFamily="18" charset="0"/>
            </a:endParaRPr>
          </a:p>
          <a:p>
            <a:endParaRPr lang="en-US" sz="11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Objective of the Project:</a:t>
            </a:r>
            <a:endParaRPr lang="en-US"/>
          </a:p>
        </p:txBody>
      </p:sp>
      <p:sp>
        <p:nvSpPr>
          <p:cNvPr id="4" name="Rectangle 1"/>
          <p:cNvSpPr>
            <a:spLocks noGrp="1" noChangeArrowheads="1"/>
          </p:cNvSpPr>
          <p:nvPr>
            <p:ph type="body" idx="1"/>
          </p:nvPr>
        </p:nvSpPr>
        <p:spPr bwMode="auto">
          <a:xfrm>
            <a:off x="838200" y="1690688"/>
            <a:ext cx="1003009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a:ln>
                  <a:noFill/>
                </a:ln>
                <a:solidFill>
                  <a:schemeClr val="tx1"/>
                </a:solidFill>
                <a:effectLst/>
                <a:latin typeface="Arial" panose="020B0604020202020204" pitchFamily="34" charset="0"/>
              </a:rPr>
              <a:t>  To design and implement a relational database for a music store.</a:t>
            </a:r>
            <a:endParaRPr kumimoji="0" lang="en-US" altLang="en-US"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a:ln>
                  <a:noFill/>
                </a:ln>
                <a:solidFill>
                  <a:schemeClr val="tx1"/>
                </a:solidFill>
                <a:effectLst/>
                <a:latin typeface="Arial" panose="020B0604020202020204" pitchFamily="34" charset="0"/>
              </a:rPr>
              <a:t>  To apply SQL concepts (joins, aggregations, subqueries) on  real-world data.</a:t>
            </a:r>
            <a:endParaRPr kumimoji="0" lang="en-US" altLang="en-US"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a:ln>
                  <a:noFill/>
                </a:ln>
                <a:solidFill>
                  <a:schemeClr val="tx1"/>
                </a:solidFill>
                <a:effectLst/>
                <a:latin typeface="Arial" panose="020B0604020202020204" pitchFamily="34" charset="0"/>
              </a:rPr>
              <a:t>  To analyze customer behavior, sales trends, and music preferences.</a:t>
            </a:r>
            <a:endParaRPr kumimoji="0" lang="en-US" altLang="en-US"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a:ln>
                  <a:noFill/>
                </a:ln>
                <a:solidFill>
                  <a:schemeClr val="tx1"/>
                </a:solidFill>
                <a:effectLst/>
                <a:latin typeface="Arial" panose="020B0604020202020204" pitchFamily="34" charset="0"/>
              </a:rPr>
              <a:t>  To generate insights that support business decisions like promotions, top customer targeting, and popular genre focus.</a:t>
            </a:r>
            <a:endParaRPr kumimoji="0" lang="en-US" altLang="en-US"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Schema Tables &amp; Relationships:</a:t>
            </a:r>
            <a:endParaRPr lang="en-US"/>
          </a:p>
        </p:txBody>
      </p:sp>
      <p:sp>
        <p:nvSpPr>
          <p:cNvPr id="3" name="Text Placeholder 2"/>
          <p:cNvSpPr>
            <a:spLocks noGrp="1"/>
          </p:cNvSpPr>
          <p:nvPr>
            <p:ph type="body" idx="1"/>
          </p:nvPr>
        </p:nvSpPr>
        <p:spPr>
          <a:xfrm>
            <a:off x="724989" y="1690688"/>
            <a:ext cx="10515600" cy="4351338"/>
          </a:xfrm>
        </p:spPr>
        <p:txBody>
          <a:bodyPr>
            <a:normAutofit/>
          </a:bodyPr>
          <a:lstStyle/>
          <a:p>
            <a:pPr algn="just"/>
            <a:r>
              <a:rPr lang="en-US" sz="2000" b="1">
                <a:latin typeface="Times New Roman" panose="02020603050405020304" pitchFamily="18" charset="0"/>
                <a:cs typeface="Times New Roman" panose="02020603050405020304" pitchFamily="18" charset="0"/>
              </a:rPr>
              <a:t>Customer – Invoice – Invoice Line – Track – Album – Artist – Genre – MediaType</a:t>
            </a:r>
            <a:r>
              <a:rPr lang="en-US" sz="2000">
                <a:latin typeface="Times New Roman" panose="02020603050405020304" pitchFamily="18" charset="0"/>
                <a:cs typeface="Times New Roman" panose="02020603050405020304" pitchFamily="18" charset="0"/>
              </a:rPr>
              <a:t> form the sales and music hierarchy.</a:t>
            </a:r>
            <a:endParaRPr lang="en-US" sz="2000">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rPr>
              <a:t>Employee – Customer</a:t>
            </a:r>
            <a:r>
              <a:rPr lang="en-US" sz="2000">
                <a:latin typeface="Times New Roman" panose="02020603050405020304" pitchFamily="18" charset="0"/>
                <a:cs typeface="Times New Roman" panose="02020603050405020304" pitchFamily="18" charset="0"/>
              </a:rPr>
              <a:t> link for support representatives.</a:t>
            </a:r>
            <a:endParaRPr lang="en-US" sz="2000">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rPr>
              <a:t>Playlist – Playlist Track – Track</a:t>
            </a:r>
            <a:r>
              <a:rPr lang="en-US" sz="2000">
                <a:latin typeface="Times New Roman" panose="02020603050405020304" pitchFamily="18" charset="0"/>
                <a:cs typeface="Times New Roman" panose="02020603050405020304" pitchFamily="18" charset="0"/>
              </a:rPr>
              <a:t> manage curated lists.</a:t>
            </a:r>
            <a:endParaRPr lang="en-US" sz="2000">
              <a:latin typeface="Times New Roman" panose="02020603050405020304" pitchFamily="18" charset="0"/>
              <a:cs typeface="Times New Roman" panose="02020603050405020304" pitchFamily="18" charset="0"/>
            </a:endParaRPr>
          </a:p>
          <a:p>
            <a:pPr algn="just"/>
            <a:r>
              <a:rPr lang="en-US" sz="2000" b="1">
                <a:latin typeface="Times New Roman" panose="02020603050405020304" pitchFamily="18" charset="0"/>
                <a:cs typeface="Times New Roman" panose="02020603050405020304" pitchFamily="18" charset="0"/>
              </a:rPr>
              <a:t>Key Relationships</a:t>
            </a: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Customer → Invoice → Invoice Line → Track → Album → Artist → Genre.</a:t>
            </a: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Employee → Customer (support rep).</a:t>
            </a:r>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Many-to-many handled through </a:t>
            </a:r>
            <a:r>
              <a:rPr lang="en-US" sz="2000" b="1">
                <a:latin typeface="Times New Roman" panose="02020603050405020304" pitchFamily="18" charset="0"/>
                <a:cs typeface="Times New Roman" panose="02020603050405020304" pitchFamily="18" charset="0"/>
              </a:rPr>
              <a:t>Playlist Track</a:t>
            </a:r>
            <a:r>
              <a:rPr lang="en-US" sz="2000">
                <a:latin typeface="Times New Roman" panose="02020603050405020304" pitchFamily="18" charset="0"/>
                <a:cs typeface="Times New Roman" panose="02020603050405020304" pitchFamily="18" charset="0"/>
              </a:rPr>
              <a:t>.</a:t>
            </a:r>
            <a:endParaRPr lang="en-US" sz="2000">
              <a:latin typeface="Times New Roman" panose="02020603050405020304" pitchFamily="18" charset="0"/>
              <a:cs typeface="Times New Roman" panose="02020603050405020304" pitchFamily="18" charset="0"/>
            </a:endParaRPr>
          </a:p>
          <a:p>
            <a:pPr algn="just"/>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Tables</a:t>
            </a:r>
            <a:endParaRPr lang="en-IN" dirty="0"/>
          </a:p>
        </p:txBody>
      </p:sp>
      <p:sp>
        <p:nvSpPr>
          <p:cNvPr id="3" name="Text Placeholder 2"/>
          <p:cNvSpPr>
            <a:spLocks noGrp="1"/>
          </p:cNvSpPr>
          <p:nvPr>
            <p:ph type="body" idx="1"/>
          </p:nvPr>
        </p:nvSpPr>
        <p:spPr/>
        <p:txBody>
          <a:bodyPr/>
          <a:lstStyle/>
          <a:p>
            <a:pPr marL="114300" indent="0">
              <a:buNone/>
            </a:pPr>
            <a:r>
              <a:rPr lang="en-IN" dirty="0" err="1"/>
              <a:t>Albumn</a:t>
            </a:r>
            <a:r>
              <a:rPr lang="en-IN" dirty="0"/>
              <a:t>                                                                   Artist</a:t>
            </a:r>
            <a:endParaRPr lang="en-IN" dirty="0"/>
          </a:p>
          <a:p>
            <a:endParaRPr lang="en-IN" dirty="0"/>
          </a:p>
          <a:p>
            <a:endParaRPr lang="en-IN" dirty="0"/>
          </a:p>
        </p:txBody>
      </p:sp>
      <p:pic>
        <p:nvPicPr>
          <p:cNvPr id="5" name="Picture 4"/>
          <p:cNvPicPr>
            <a:picLocks noChangeAspect="1"/>
          </p:cNvPicPr>
          <p:nvPr/>
        </p:nvPicPr>
        <p:blipFill>
          <a:blip r:embed="rId1"/>
          <a:stretch>
            <a:fillRect/>
          </a:stretch>
        </p:blipFill>
        <p:spPr>
          <a:xfrm>
            <a:off x="1018466" y="2698410"/>
            <a:ext cx="5077534" cy="2791215"/>
          </a:xfrm>
          <a:prstGeom prst="rect">
            <a:avLst/>
          </a:prstGeom>
        </p:spPr>
      </p:pic>
      <p:pic>
        <p:nvPicPr>
          <p:cNvPr id="9" name="Picture 8"/>
          <p:cNvPicPr>
            <a:picLocks noChangeAspect="1"/>
          </p:cNvPicPr>
          <p:nvPr/>
        </p:nvPicPr>
        <p:blipFill>
          <a:blip r:embed="rId2"/>
          <a:stretch>
            <a:fillRect/>
          </a:stretch>
        </p:blipFill>
        <p:spPr>
          <a:xfrm>
            <a:off x="6977853" y="2591397"/>
            <a:ext cx="3140705" cy="29142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Tables</a:t>
            </a:r>
            <a:endParaRPr lang="en-IN" dirty="0"/>
          </a:p>
        </p:txBody>
      </p:sp>
      <p:sp>
        <p:nvSpPr>
          <p:cNvPr id="3" name="Text Placeholder 2"/>
          <p:cNvSpPr>
            <a:spLocks noGrp="1"/>
          </p:cNvSpPr>
          <p:nvPr>
            <p:ph type="body" idx="1"/>
          </p:nvPr>
        </p:nvSpPr>
        <p:spPr/>
        <p:txBody>
          <a:bodyPr/>
          <a:lstStyle/>
          <a:p>
            <a:pPr marL="114300" indent="0">
              <a:buNone/>
            </a:pPr>
            <a:r>
              <a:rPr lang="en-IN" dirty="0"/>
              <a:t>Customer                                                      Employee</a:t>
            </a:r>
            <a:endParaRPr lang="en-IN" dirty="0"/>
          </a:p>
          <a:p>
            <a:pPr marL="114300" indent="0">
              <a:buNone/>
            </a:pPr>
            <a:endParaRPr lang="en-IN" dirty="0"/>
          </a:p>
        </p:txBody>
      </p:sp>
      <p:pic>
        <p:nvPicPr>
          <p:cNvPr id="5" name="Picture 4"/>
          <p:cNvPicPr>
            <a:picLocks noChangeAspect="1"/>
          </p:cNvPicPr>
          <p:nvPr/>
        </p:nvPicPr>
        <p:blipFill>
          <a:blip r:embed="rId1"/>
          <a:stretch>
            <a:fillRect/>
          </a:stretch>
        </p:blipFill>
        <p:spPr>
          <a:xfrm>
            <a:off x="642670" y="2455766"/>
            <a:ext cx="4843729" cy="2572109"/>
          </a:xfrm>
          <a:prstGeom prst="rect">
            <a:avLst/>
          </a:prstGeom>
        </p:spPr>
      </p:pic>
      <p:pic>
        <p:nvPicPr>
          <p:cNvPr id="7" name="Picture 6"/>
          <p:cNvPicPr>
            <a:picLocks noChangeAspect="1"/>
          </p:cNvPicPr>
          <p:nvPr/>
        </p:nvPicPr>
        <p:blipFill>
          <a:blip r:embed="rId2"/>
          <a:stretch>
            <a:fillRect/>
          </a:stretch>
        </p:blipFill>
        <p:spPr>
          <a:xfrm>
            <a:off x="5681929" y="2609424"/>
            <a:ext cx="5972684" cy="25054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Tables</a:t>
            </a:r>
            <a:endParaRPr lang="en-IN" dirty="0"/>
          </a:p>
        </p:txBody>
      </p:sp>
      <p:sp>
        <p:nvSpPr>
          <p:cNvPr id="3" name="Text Placeholder 2"/>
          <p:cNvSpPr>
            <a:spLocks noGrp="1"/>
          </p:cNvSpPr>
          <p:nvPr>
            <p:ph type="body" idx="1"/>
          </p:nvPr>
        </p:nvSpPr>
        <p:spPr/>
        <p:txBody>
          <a:bodyPr/>
          <a:lstStyle/>
          <a:p>
            <a:pPr marL="114300" indent="0">
              <a:buNone/>
            </a:pPr>
            <a:r>
              <a:rPr lang="en-IN" dirty="0"/>
              <a:t>Genre                                     Invoice</a:t>
            </a:r>
            <a:endParaRPr lang="en-IN" dirty="0"/>
          </a:p>
        </p:txBody>
      </p:sp>
      <p:pic>
        <p:nvPicPr>
          <p:cNvPr id="5" name="Picture 4"/>
          <p:cNvPicPr>
            <a:picLocks noChangeAspect="1"/>
          </p:cNvPicPr>
          <p:nvPr/>
        </p:nvPicPr>
        <p:blipFill>
          <a:blip r:embed="rId1"/>
          <a:stretch>
            <a:fillRect/>
          </a:stretch>
        </p:blipFill>
        <p:spPr>
          <a:xfrm>
            <a:off x="976882" y="2482151"/>
            <a:ext cx="2610214" cy="1629002"/>
          </a:xfrm>
          <a:prstGeom prst="rect">
            <a:avLst/>
          </a:prstGeom>
        </p:spPr>
      </p:pic>
      <p:pic>
        <p:nvPicPr>
          <p:cNvPr id="7" name="Picture 6"/>
          <p:cNvPicPr>
            <a:picLocks noChangeAspect="1"/>
          </p:cNvPicPr>
          <p:nvPr/>
        </p:nvPicPr>
        <p:blipFill>
          <a:blip r:embed="rId2"/>
          <a:stretch>
            <a:fillRect/>
          </a:stretch>
        </p:blipFill>
        <p:spPr>
          <a:xfrm>
            <a:off x="4215137" y="2482151"/>
            <a:ext cx="7277345" cy="18671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Tables</a:t>
            </a:r>
            <a:endParaRPr lang="en-IN" dirty="0"/>
          </a:p>
        </p:txBody>
      </p:sp>
      <p:sp>
        <p:nvSpPr>
          <p:cNvPr id="3" name="Text Placeholder 2"/>
          <p:cNvSpPr>
            <a:spLocks noGrp="1"/>
          </p:cNvSpPr>
          <p:nvPr>
            <p:ph type="body" idx="1"/>
          </p:nvPr>
        </p:nvSpPr>
        <p:spPr/>
        <p:txBody>
          <a:bodyPr/>
          <a:lstStyle/>
          <a:p>
            <a:pPr marL="114300" indent="0">
              <a:buNone/>
            </a:pPr>
            <a:r>
              <a:rPr lang="en-IN" dirty="0" err="1"/>
              <a:t>Invoice_line</a:t>
            </a:r>
            <a:r>
              <a:rPr lang="en-IN" dirty="0"/>
              <a:t>                                       Media type</a:t>
            </a:r>
            <a:endParaRPr lang="en-IN" dirty="0"/>
          </a:p>
          <a:p>
            <a:pPr marL="114300" indent="0">
              <a:buNone/>
            </a:pPr>
            <a:r>
              <a:rPr lang="en-IN" dirty="0"/>
              <a:t>           </a:t>
            </a:r>
            <a:endParaRPr lang="en-IN" dirty="0"/>
          </a:p>
        </p:txBody>
      </p:sp>
      <p:pic>
        <p:nvPicPr>
          <p:cNvPr id="5" name="Picture 4"/>
          <p:cNvPicPr>
            <a:picLocks noChangeAspect="1"/>
          </p:cNvPicPr>
          <p:nvPr/>
        </p:nvPicPr>
        <p:blipFill>
          <a:blip r:embed="rId1"/>
          <a:stretch>
            <a:fillRect/>
          </a:stretch>
        </p:blipFill>
        <p:spPr>
          <a:xfrm>
            <a:off x="838200" y="2903999"/>
            <a:ext cx="4503821" cy="1771897"/>
          </a:xfrm>
          <a:prstGeom prst="rect">
            <a:avLst/>
          </a:prstGeom>
        </p:spPr>
      </p:pic>
      <p:pic>
        <p:nvPicPr>
          <p:cNvPr id="7" name="Picture 6"/>
          <p:cNvPicPr>
            <a:picLocks noChangeAspect="1"/>
          </p:cNvPicPr>
          <p:nvPr/>
        </p:nvPicPr>
        <p:blipFill>
          <a:blip r:embed="rId2"/>
          <a:stretch>
            <a:fillRect/>
          </a:stretch>
        </p:blipFill>
        <p:spPr>
          <a:xfrm>
            <a:off x="5886444" y="3161210"/>
            <a:ext cx="3667637" cy="15146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Tables</a:t>
            </a:r>
            <a:endParaRPr lang="en-IN" dirty="0"/>
          </a:p>
        </p:txBody>
      </p:sp>
      <p:sp>
        <p:nvSpPr>
          <p:cNvPr id="3" name="Text Placeholder 2"/>
          <p:cNvSpPr>
            <a:spLocks noGrp="1"/>
          </p:cNvSpPr>
          <p:nvPr>
            <p:ph type="body" idx="1"/>
          </p:nvPr>
        </p:nvSpPr>
        <p:spPr/>
        <p:txBody>
          <a:bodyPr/>
          <a:lstStyle/>
          <a:p>
            <a:pPr marL="114300" indent="0">
              <a:buNone/>
            </a:pPr>
            <a:r>
              <a:rPr lang="en-IN" dirty="0"/>
              <a:t>Playlist                  </a:t>
            </a:r>
            <a:r>
              <a:rPr lang="en-IN" dirty="0" err="1"/>
              <a:t>Playlist_track</a:t>
            </a:r>
            <a:r>
              <a:rPr lang="en-IN" dirty="0"/>
              <a:t>                       Track</a:t>
            </a:r>
            <a:endParaRPr lang="en-IN" dirty="0"/>
          </a:p>
          <a:p>
            <a:pPr marL="114300" indent="0">
              <a:buNone/>
            </a:pPr>
            <a:endParaRPr lang="en-IN" dirty="0"/>
          </a:p>
        </p:txBody>
      </p:sp>
      <p:pic>
        <p:nvPicPr>
          <p:cNvPr id="5" name="Picture 4"/>
          <p:cNvPicPr>
            <a:picLocks noChangeAspect="1"/>
          </p:cNvPicPr>
          <p:nvPr/>
        </p:nvPicPr>
        <p:blipFill>
          <a:blip r:embed="rId1"/>
          <a:stretch>
            <a:fillRect/>
          </a:stretch>
        </p:blipFill>
        <p:spPr>
          <a:xfrm>
            <a:off x="670340" y="2486608"/>
            <a:ext cx="2429214" cy="1514686"/>
          </a:xfrm>
          <a:prstGeom prst="rect">
            <a:avLst/>
          </a:prstGeom>
        </p:spPr>
      </p:pic>
      <p:pic>
        <p:nvPicPr>
          <p:cNvPr id="7" name="Picture 6"/>
          <p:cNvPicPr>
            <a:picLocks noChangeAspect="1"/>
          </p:cNvPicPr>
          <p:nvPr/>
        </p:nvPicPr>
        <p:blipFill>
          <a:blip r:embed="rId2"/>
          <a:stretch>
            <a:fillRect/>
          </a:stretch>
        </p:blipFill>
        <p:spPr>
          <a:xfrm>
            <a:off x="3484245" y="2486608"/>
            <a:ext cx="2143424" cy="1810003"/>
          </a:xfrm>
          <a:prstGeom prst="rect">
            <a:avLst/>
          </a:prstGeom>
        </p:spPr>
      </p:pic>
      <p:pic>
        <p:nvPicPr>
          <p:cNvPr id="9" name="Picture 8"/>
          <p:cNvPicPr>
            <a:picLocks noChangeAspect="1"/>
          </p:cNvPicPr>
          <p:nvPr/>
        </p:nvPicPr>
        <p:blipFill>
          <a:blip r:embed="rId3"/>
          <a:stretch>
            <a:fillRect/>
          </a:stretch>
        </p:blipFill>
        <p:spPr>
          <a:xfrm>
            <a:off x="6096000" y="2528762"/>
            <a:ext cx="5449060" cy="18004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ER Diagram:</a:t>
            </a:r>
            <a:br>
              <a:rPr lang="en-IN"/>
            </a:br>
            <a:endParaRPr lang="en-US"/>
          </a:p>
        </p:txBody>
      </p:sp>
      <p:pic>
        <p:nvPicPr>
          <p:cNvPr id="6" name="Picture 5" descr="A screenshot of a computer&#10;&#10;AI-generated content may be incorrect."/>
          <p:cNvPicPr>
            <a:picLocks noChangeAspect="1"/>
          </p:cNvPicPr>
          <p:nvPr/>
        </p:nvPicPr>
        <p:blipFill>
          <a:blip r:embed="rId1"/>
          <a:stretch>
            <a:fillRect/>
          </a:stretch>
        </p:blipFill>
        <p:spPr>
          <a:xfrm>
            <a:off x="1576987" y="1027906"/>
            <a:ext cx="7541698" cy="52020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Key analysis questions (use cases):</a:t>
            </a:r>
            <a:endParaRPr lang="en-US"/>
          </a:p>
        </p:txBody>
      </p:sp>
      <p:sp>
        <p:nvSpPr>
          <p:cNvPr id="3" name="Text Placeholder 2"/>
          <p:cNvSpPr>
            <a:spLocks noGrp="1"/>
          </p:cNvSpPr>
          <p:nvPr>
            <p:ph type="body" idx="1"/>
          </p:nvPr>
        </p:nvSpPr>
        <p:spPr/>
        <p:txBody>
          <a:bodyPr>
            <a:normAutofit fontScale="85000" lnSpcReduction="20000"/>
          </a:bodyPr>
          <a:lstStyle/>
          <a:p>
            <a:pPr marL="628650" indent="-514350" algn="just">
              <a:buFont typeface="+mj-lt"/>
              <a:buAutoNum type="arabicPeriod"/>
            </a:pPr>
            <a:r>
              <a:rPr lang="en-US" altLang="en-US"/>
              <a:t>Find the senior-most employee based on job title?</a:t>
            </a:r>
            <a:endParaRPr lang="en-US" altLang="en-US"/>
          </a:p>
          <a:p>
            <a:pPr marL="628650" indent="-514350" algn="just">
              <a:buFont typeface="+mj-lt"/>
              <a:buAutoNum type="arabicPeriod"/>
            </a:pPr>
            <a:r>
              <a:rPr lang="en-US"/>
              <a:t>Which countries generate the most invoices?</a:t>
            </a:r>
            <a:endParaRPr lang="en-US"/>
          </a:p>
          <a:p>
            <a:pPr marL="628650" indent="-514350" algn="just">
              <a:buFont typeface="+mj-lt"/>
              <a:buAutoNum type="arabicPeriod"/>
            </a:pPr>
            <a:r>
              <a:rPr lang="en-US"/>
              <a:t>Which are the top 3 invoices by total value?</a:t>
            </a:r>
            <a:endParaRPr lang="en-US"/>
          </a:p>
          <a:p>
            <a:pPr marL="628650" indent="-514350" algn="just">
              <a:buFont typeface="+mj-lt"/>
              <a:buAutoNum type="arabicPeriod"/>
            </a:pPr>
            <a:r>
              <a:rPr lang="en-US" altLang="en-US"/>
              <a:t>Which city has generated the most revenue from invoices?</a:t>
            </a:r>
            <a:endParaRPr lang="en-US" altLang="en-US"/>
          </a:p>
          <a:p>
            <a:pPr marL="628650" indent="-514350" algn="just">
              <a:buFont typeface="+mj-lt"/>
              <a:buAutoNum type="arabicPeriod"/>
            </a:pPr>
            <a:r>
              <a:rPr lang="en-US"/>
              <a:t>Who is the best customer overall?</a:t>
            </a:r>
            <a:endParaRPr lang="en-US"/>
          </a:p>
          <a:p>
            <a:pPr marL="628650" indent="-514350" algn="just">
              <a:buFont typeface="+mj-lt"/>
              <a:buAutoNum type="arabicPeriod"/>
            </a:pPr>
            <a:r>
              <a:rPr lang="en-US" altLang="en-US"/>
              <a:t>List all Rock music listeners with their email, name, and genre?</a:t>
            </a:r>
            <a:endParaRPr lang="en-US" altLang="en-US"/>
          </a:p>
          <a:p>
            <a:pPr marL="628650" indent="-514350" algn="just">
              <a:buFont typeface="+mj-lt"/>
              <a:buAutoNum type="arabicPeriod"/>
            </a:pPr>
            <a:r>
              <a:rPr lang="en-US" altLang="en-US"/>
              <a:t>Which 10 artists have the most Rock tracks?</a:t>
            </a:r>
            <a:endParaRPr lang="en-US" altLang="en-US"/>
          </a:p>
          <a:p>
            <a:pPr marL="628650" indent="-514350" algn="just">
              <a:buFont typeface="+mj-lt"/>
              <a:buAutoNum type="arabicPeriod"/>
            </a:pPr>
            <a:r>
              <a:rPr lang="en-US"/>
              <a:t>Tracks longer than avg song length?</a:t>
            </a:r>
            <a:endParaRPr lang="en-US" altLang="en-US"/>
          </a:p>
          <a:p>
            <a:pPr marL="628650" indent="-514350" algn="just">
              <a:buFont typeface="+mj-lt"/>
              <a:buAutoNum type="arabicPeriod"/>
            </a:pPr>
            <a:r>
              <a:rPr lang="en-US"/>
              <a:t>How much has each customer spent on each artist?</a:t>
            </a:r>
            <a:r>
              <a:rPr lang="en-US" altLang="en-US"/>
              <a:t> </a:t>
            </a:r>
            <a:endParaRPr lang="en-US" altLang="en-US"/>
          </a:p>
          <a:p>
            <a:pPr marL="628650" indent="-514350" algn="just">
              <a:buFont typeface="+mj-lt"/>
              <a:buAutoNum type="arabicPeriod"/>
            </a:pPr>
            <a:r>
              <a:rPr lang="en-US" altLang="en-US"/>
              <a:t> Who is the top-spending customer in each country?</a:t>
            </a:r>
            <a:endParaRPr lang="en-US" altLang="en-US"/>
          </a:p>
          <a:p>
            <a:pPr marL="628650" indent="-514350" algn="just">
              <a:buFont typeface="+mj-lt"/>
              <a:buAutoNum type="arabicPeriod"/>
            </a:pPr>
            <a:r>
              <a:rPr lang="en-US"/>
              <a:t>Most popular music genre by country.</a:t>
            </a:r>
            <a:endParaRPr lang="en-US"/>
          </a:p>
          <a:p>
            <a:pPr marL="114300" indent="0">
              <a:buNone/>
            </a:pPr>
            <a:endParaRPr lang="en-US" altLang="en-US"/>
          </a:p>
          <a:p>
            <a:pPr marL="114300" indent="0">
              <a:buNone/>
            </a:pP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SQL query results with screenshots:</a:t>
            </a:r>
            <a:endParaRPr lang="en-US"/>
          </a:p>
        </p:txBody>
      </p:sp>
      <p:sp>
        <p:nvSpPr>
          <p:cNvPr id="3" name="Text Placeholder 2"/>
          <p:cNvSpPr>
            <a:spLocks noGrp="1"/>
          </p:cNvSpPr>
          <p:nvPr>
            <p:ph type="body" idx="1"/>
          </p:nvPr>
        </p:nvSpPr>
        <p:spPr/>
        <p:txBody>
          <a:bodyPr>
            <a:normAutofit/>
          </a:bodyPr>
          <a:lstStyle/>
          <a:p>
            <a:pPr marL="114300" indent="0">
              <a:buNone/>
            </a:pPr>
            <a:r>
              <a:rPr lang="en-US" sz="2400" b="1"/>
              <a:t>1.  Senior most employee based on job title:      2. Count invoices per country:   </a:t>
            </a:r>
            <a:endParaRPr lang="en-US" sz="2400" b="1"/>
          </a:p>
        </p:txBody>
      </p:sp>
      <p:pic>
        <p:nvPicPr>
          <p:cNvPr id="8" name="Picture 7" descr="A screenshot of a computer&#10;&#10;AI-generated content may be incorrect."/>
          <p:cNvPicPr>
            <a:picLocks noChangeAspect="1"/>
          </p:cNvPicPr>
          <p:nvPr/>
        </p:nvPicPr>
        <p:blipFill>
          <a:blip r:embed="rId1"/>
          <a:stretch>
            <a:fillRect/>
          </a:stretch>
        </p:blipFill>
        <p:spPr>
          <a:xfrm>
            <a:off x="961174" y="2598581"/>
            <a:ext cx="5389384" cy="1660837"/>
          </a:xfrm>
          <a:prstGeom prst="rect">
            <a:avLst/>
          </a:prstGeom>
        </p:spPr>
      </p:pic>
      <p:pic>
        <p:nvPicPr>
          <p:cNvPr id="11" name="Picture 10" descr="A screenshot of a computer&#10;&#10;AI-generated content may be incorrect."/>
          <p:cNvPicPr>
            <a:picLocks noChangeAspect="1"/>
          </p:cNvPicPr>
          <p:nvPr/>
        </p:nvPicPr>
        <p:blipFill>
          <a:blip r:embed="rId2"/>
          <a:stretch>
            <a:fillRect/>
          </a:stretch>
        </p:blipFill>
        <p:spPr>
          <a:xfrm>
            <a:off x="7161461" y="2598581"/>
            <a:ext cx="3911822" cy="23586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42406" y="745762"/>
            <a:ext cx="10515600" cy="4351338"/>
          </a:xfrm>
        </p:spPr>
        <p:txBody>
          <a:bodyPr/>
          <a:lstStyle/>
          <a:p>
            <a:pPr marL="114300" indent="0">
              <a:buNone/>
            </a:pPr>
            <a:r>
              <a:rPr lang="en-US" sz="2400" b="1"/>
              <a:t>3. Top 3 invoices total:</a:t>
            </a:r>
            <a:r>
              <a:rPr lang="en-US" b="1"/>
              <a:t>                  </a:t>
            </a:r>
            <a:r>
              <a:rPr lang="en-US" sz="2400" b="1"/>
              <a:t>4. City with highest total invoice amount:</a:t>
            </a:r>
            <a:endParaRPr lang="en-US" sz="2400" b="1"/>
          </a:p>
          <a:p>
            <a:pPr marL="114300" indent="0">
              <a:buNone/>
            </a:pPr>
            <a:r>
              <a:rPr lang="en-US" b="1"/>
              <a:t>  </a:t>
            </a:r>
            <a:endParaRPr lang="en-US" b="1"/>
          </a:p>
          <a:p>
            <a:pPr marL="114300" indent="0">
              <a:buNone/>
            </a:pPr>
            <a:endParaRPr lang="en-US"/>
          </a:p>
        </p:txBody>
      </p:sp>
      <p:pic>
        <p:nvPicPr>
          <p:cNvPr id="4" name="Picture 3" descr="A screenshot of a computer&#10;&#10;AI-generated content may be incorrect."/>
          <p:cNvPicPr>
            <a:picLocks noChangeAspect="1"/>
          </p:cNvPicPr>
          <p:nvPr/>
        </p:nvPicPr>
        <p:blipFill>
          <a:blip r:embed="rId1"/>
          <a:stretch>
            <a:fillRect/>
          </a:stretch>
        </p:blipFill>
        <p:spPr>
          <a:xfrm>
            <a:off x="762566" y="1709758"/>
            <a:ext cx="3889821" cy="2127829"/>
          </a:xfrm>
          <a:prstGeom prst="rect">
            <a:avLst/>
          </a:prstGeom>
        </p:spPr>
      </p:pic>
      <p:pic>
        <p:nvPicPr>
          <p:cNvPr id="5" name="Picture 4" descr="Screenshot 2025-12-08 112637"/>
          <p:cNvPicPr>
            <a:picLocks noChangeAspect="1"/>
          </p:cNvPicPr>
          <p:nvPr/>
        </p:nvPicPr>
        <p:blipFill>
          <a:blip r:embed="rId2"/>
          <a:stretch>
            <a:fillRect/>
          </a:stretch>
        </p:blipFill>
        <p:spPr>
          <a:xfrm>
            <a:off x="5520055" y="1297305"/>
            <a:ext cx="4826635" cy="24593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858973"/>
            <a:ext cx="10515600" cy="4351338"/>
          </a:xfrm>
        </p:spPr>
        <p:txBody>
          <a:bodyPr/>
          <a:lstStyle/>
          <a:p>
            <a:pPr marL="114300" indent="0">
              <a:buNone/>
            </a:pPr>
            <a:r>
              <a:rPr lang="en-US" sz="2400" b="1"/>
              <a:t>5. Customer who spent the most:              6. Rock music listeners:           </a:t>
            </a:r>
            <a:endParaRPr lang="en-US" sz="2400" b="1"/>
          </a:p>
          <a:p>
            <a:pPr marL="114300" indent="0">
              <a:buNone/>
            </a:pPr>
            <a:endParaRPr lang="en-US" b="1"/>
          </a:p>
        </p:txBody>
      </p:sp>
      <p:pic>
        <p:nvPicPr>
          <p:cNvPr id="4" name="Picture 3" descr="A screenshot of a computer&#10;&#10;AI-generated content may be incorrect."/>
          <p:cNvPicPr>
            <a:picLocks noChangeAspect="1"/>
          </p:cNvPicPr>
          <p:nvPr/>
        </p:nvPicPr>
        <p:blipFill>
          <a:blip r:embed="rId1"/>
          <a:stretch>
            <a:fillRect/>
          </a:stretch>
        </p:blipFill>
        <p:spPr>
          <a:xfrm>
            <a:off x="325387" y="1647689"/>
            <a:ext cx="5348825" cy="2277834"/>
          </a:xfrm>
          <a:prstGeom prst="rect">
            <a:avLst/>
          </a:prstGeom>
        </p:spPr>
      </p:pic>
      <p:pic>
        <p:nvPicPr>
          <p:cNvPr id="7" name="Picture 6" descr="A screenshot of a computer&#10;&#10;AI-generated content may be incorrect."/>
          <p:cNvPicPr>
            <a:picLocks noChangeAspect="1"/>
          </p:cNvPicPr>
          <p:nvPr/>
        </p:nvPicPr>
        <p:blipFill>
          <a:blip r:embed="rId2"/>
          <a:stretch>
            <a:fillRect/>
          </a:stretch>
        </p:blipFill>
        <p:spPr>
          <a:xfrm>
            <a:off x="6187025" y="1647689"/>
            <a:ext cx="4051442" cy="295777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728345"/>
            <a:ext cx="10515600" cy="4351338"/>
          </a:xfrm>
        </p:spPr>
        <p:txBody>
          <a:bodyPr/>
          <a:lstStyle/>
          <a:p>
            <a:pPr marL="114300" indent="0">
              <a:buNone/>
            </a:pPr>
            <a:r>
              <a:rPr lang="en-US" sz="2400" b="1"/>
              <a:t>7. Top 10 rock artists by track count:           8. Tracks longer than avg song length:</a:t>
            </a:r>
            <a:r>
              <a:rPr lang="en-US" b="1"/>
              <a:t> </a:t>
            </a:r>
            <a:endParaRPr lang="en-US" b="1"/>
          </a:p>
          <a:p>
            <a:pPr marL="114300" indent="0">
              <a:buNone/>
            </a:pPr>
            <a:endParaRPr lang="en-US"/>
          </a:p>
        </p:txBody>
      </p:sp>
      <p:pic>
        <p:nvPicPr>
          <p:cNvPr id="4" name="Picture 3" descr="A screenshot of a computer&#10;&#10;AI-generated content may be incorrect."/>
          <p:cNvPicPr>
            <a:picLocks noChangeAspect="1"/>
          </p:cNvPicPr>
          <p:nvPr/>
        </p:nvPicPr>
        <p:blipFill>
          <a:blip r:embed="rId1"/>
          <a:stretch>
            <a:fillRect/>
          </a:stretch>
        </p:blipFill>
        <p:spPr>
          <a:xfrm>
            <a:off x="1060135" y="1476598"/>
            <a:ext cx="4375851" cy="3143994"/>
          </a:xfrm>
          <a:prstGeom prst="rect">
            <a:avLst/>
          </a:prstGeom>
        </p:spPr>
      </p:pic>
      <p:pic>
        <p:nvPicPr>
          <p:cNvPr id="6" name="Picture 5" descr="A screenshot of a computer&#10;&#10;AI-generated content may be incorrect."/>
          <p:cNvPicPr>
            <a:picLocks noChangeAspect="1"/>
          </p:cNvPicPr>
          <p:nvPr/>
        </p:nvPicPr>
        <p:blipFill>
          <a:blip r:embed="rId2"/>
          <a:stretch>
            <a:fillRect/>
          </a:stretch>
        </p:blipFill>
        <p:spPr>
          <a:xfrm>
            <a:off x="6610125" y="1476598"/>
            <a:ext cx="4223933" cy="285938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90155" y="632551"/>
            <a:ext cx="10515600" cy="4351338"/>
          </a:xfrm>
        </p:spPr>
        <p:txBody>
          <a:bodyPr/>
          <a:lstStyle/>
          <a:p>
            <a:pPr marL="114300" indent="0">
              <a:buNone/>
            </a:pPr>
            <a:r>
              <a:rPr lang="en-US" b="1"/>
              <a:t>9. Amount spent by each customer on each artist:</a:t>
            </a:r>
            <a:r>
              <a:rPr lang="en-US"/>
              <a:t> </a:t>
            </a:r>
            <a:endParaRPr lang="en-US"/>
          </a:p>
          <a:p>
            <a:pPr marL="114300" indent="0">
              <a:buNone/>
            </a:pPr>
            <a:endParaRPr lang="en-US"/>
          </a:p>
        </p:txBody>
      </p:sp>
      <p:pic>
        <p:nvPicPr>
          <p:cNvPr id="2" name="Picture 1"/>
          <p:cNvPicPr>
            <a:picLocks noChangeAspect="1"/>
          </p:cNvPicPr>
          <p:nvPr/>
        </p:nvPicPr>
        <p:blipFill>
          <a:blip r:embed="rId1"/>
          <a:stretch>
            <a:fillRect/>
          </a:stretch>
        </p:blipFill>
        <p:spPr>
          <a:xfrm>
            <a:off x="2123440" y="1178560"/>
            <a:ext cx="5920740" cy="37420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919934"/>
            <a:ext cx="10515600" cy="4351338"/>
          </a:xfrm>
        </p:spPr>
        <p:txBody>
          <a:bodyPr/>
          <a:lstStyle/>
          <a:p>
            <a:pPr marL="114300" indent="0">
              <a:buNone/>
            </a:pPr>
            <a:r>
              <a:rPr lang="en-US" sz="2400" b="1"/>
              <a:t>10. Customer who spent the most per country:</a:t>
            </a:r>
            <a:endParaRPr lang="en-US" sz="2400" b="1"/>
          </a:p>
          <a:p>
            <a:pPr marL="114300" indent="0">
              <a:buNone/>
            </a:pPr>
            <a:r>
              <a:rPr lang="en-US" b="1"/>
              <a:t> </a:t>
            </a:r>
            <a:endParaRPr lang="en-US" b="1"/>
          </a:p>
          <a:p>
            <a:pPr marL="114300" indent="0">
              <a:buNone/>
            </a:pPr>
            <a:endParaRPr lang="en-US"/>
          </a:p>
        </p:txBody>
      </p:sp>
      <p:pic>
        <p:nvPicPr>
          <p:cNvPr id="4" name="Picture 3" descr="A screenshot of a computer&#10;&#10;AI-generated content may be incorrect."/>
          <p:cNvPicPr>
            <a:picLocks noChangeAspect="1"/>
          </p:cNvPicPr>
          <p:nvPr/>
        </p:nvPicPr>
        <p:blipFill>
          <a:blip r:embed="rId1"/>
          <a:stretch>
            <a:fillRect/>
          </a:stretch>
        </p:blipFill>
        <p:spPr>
          <a:xfrm>
            <a:off x="1817828" y="1586728"/>
            <a:ext cx="5296889" cy="37274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16280" y="824139"/>
            <a:ext cx="10515600" cy="4351338"/>
          </a:xfrm>
        </p:spPr>
        <p:txBody>
          <a:bodyPr/>
          <a:lstStyle/>
          <a:p>
            <a:pPr marL="114300" indent="0">
              <a:buNone/>
            </a:pPr>
            <a:r>
              <a:rPr lang="en-US" b="1"/>
              <a:t>11. Most popular genre per country:</a:t>
            </a:r>
            <a:endParaRPr lang="en-US"/>
          </a:p>
        </p:txBody>
      </p:sp>
      <p:pic>
        <p:nvPicPr>
          <p:cNvPr id="2" name="Picture 1"/>
          <p:cNvPicPr>
            <a:picLocks noChangeAspect="1"/>
          </p:cNvPicPr>
          <p:nvPr/>
        </p:nvPicPr>
        <p:blipFill>
          <a:blip r:embed="rId1"/>
          <a:stretch>
            <a:fillRect/>
          </a:stretch>
        </p:blipFill>
        <p:spPr>
          <a:xfrm>
            <a:off x="1922145" y="1701165"/>
            <a:ext cx="5362575" cy="383603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a:t>Final business insights and recommendations:</a:t>
            </a:r>
            <a:endParaRPr lang="en-US" sz="4000"/>
          </a:p>
        </p:txBody>
      </p:sp>
      <p:sp>
        <p:nvSpPr>
          <p:cNvPr id="4" name="Rectangle 1"/>
          <p:cNvSpPr>
            <a:spLocks noGrp="1" noChangeArrowheads="1"/>
          </p:cNvSpPr>
          <p:nvPr>
            <p:ph type="body" idx="1"/>
          </p:nvPr>
        </p:nvSpPr>
        <p:spPr bwMode="auto">
          <a:xfrm>
            <a:off x="838200" y="1690688"/>
            <a:ext cx="1091946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a:ln>
                  <a:noFill/>
                </a:ln>
                <a:solidFill>
                  <a:schemeClr val="tx1"/>
                </a:solidFill>
                <a:effectLst/>
                <a:latin typeface="Arial" panose="020B0604020202020204" pitchFamily="34" charset="0"/>
              </a:rPr>
              <a:t>  Revenue Concentration:</a:t>
            </a:r>
            <a:r>
              <a:rPr kumimoji="0" lang="en-US" altLang="en-US" sz="2400" b="0" i="0" u="none" strike="noStrike" cap="none" normalizeH="0" baseline="0">
                <a:ln>
                  <a:noFill/>
                </a:ln>
                <a:solidFill>
                  <a:schemeClr val="tx1"/>
                </a:solidFill>
                <a:effectLst/>
                <a:latin typeface="Arial" panose="020B0604020202020204" pitchFamily="34" charset="0"/>
              </a:rPr>
              <a:t> Few countries and cities generate most revenue. Focus marketing there.</a:t>
            </a: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a:ln>
                  <a:noFill/>
                </a:ln>
                <a:solidFill>
                  <a:schemeClr val="tx1"/>
                </a:solidFill>
                <a:effectLst/>
                <a:latin typeface="Arial" panose="020B0604020202020204" pitchFamily="34" charset="0"/>
              </a:rPr>
              <a:t>  Customer Segmentation:</a:t>
            </a:r>
            <a:r>
              <a:rPr kumimoji="0" lang="en-US" altLang="en-US" sz="2400" b="0" i="0" u="none" strike="noStrike" cap="none" normalizeH="0" baseline="0">
                <a:ln>
                  <a:noFill/>
                </a:ln>
                <a:solidFill>
                  <a:schemeClr val="tx1"/>
                </a:solidFill>
                <a:effectLst/>
                <a:latin typeface="Arial" panose="020B0604020202020204" pitchFamily="34" charset="0"/>
              </a:rPr>
              <a:t> A handful of high-value customers drive sales → target with loyalty programs.</a:t>
            </a: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a:ln>
                  <a:noFill/>
                </a:ln>
                <a:solidFill>
                  <a:schemeClr val="tx1"/>
                </a:solidFill>
                <a:effectLst/>
                <a:latin typeface="Arial" panose="020B0604020202020204" pitchFamily="34" charset="0"/>
              </a:rPr>
              <a:t>  Genre Trends:</a:t>
            </a:r>
            <a:r>
              <a:rPr kumimoji="0" lang="en-US" altLang="en-US" sz="2400" b="0" i="0" u="none" strike="noStrike" cap="none" normalizeH="0" baseline="0">
                <a:ln>
                  <a:noFill/>
                </a:ln>
                <a:solidFill>
                  <a:schemeClr val="tx1"/>
                </a:solidFill>
                <a:effectLst/>
                <a:latin typeface="Arial" panose="020B0604020202020204" pitchFamily="34" charset="0"/>
              </a:rPr>
              <a:t> Rock is globally most popular. Promote Rock-focused albums/events.</a:t>
            </a: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a:ln>
                  <a:noFill/>
                </a:ln>
                <a:solidFill>
                  <a:schemeClr val="tx1"/>
                </a:solidFill>
                <a:effectLst/>
                <a:latin typeface="Arial" panose="020B0604020202020204" pitchFamily="34" charset="0"/>
              </a:rPr>
              <a:t>  Artist Promotion:</a:t>
            </a:r>
            <a:r>
              <a:rPr kumimoji="0" lang="en-US" altLang="en-US" sz="2400" b="0" i="0" u="none" strike="noStrike" cap="none" normalizeH="0" baseline="0">
                <a:ln>
                  <a:noFill/>
                </a:ln>
                <a:solidFill>
                  <a:schemeClr val="tx1"/>
                </a:solidFill>
                <a:effectLst/>
                <a:latin typeface="Arial" panose="020B0604020202020204" pitchFamily="34" charset="0"/>
              </a:rPr>
              <a:t> Top artists contribute heavily; underperforming artists may need discounts/promotions.</a:t>
            </a: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a:ln>
                  <a:noFill/>
                </a:ln>
                <a:solidFill>
                  <a:schemeClr val="tx1"/>
                </a:solidFill>
                <a:effectLst/>
                <a:latin typeface="Arial" panose="020B0604020202020204" pitchFamily="34" charset="0"/>
              </a:rPr>
              <a:t>  Geographical Strategy:</a:t>
            </a:r>
            <a:r>
              <a:rPr kumimoji="0" lang="en-US" altLang="en-US" sz="2400" b="0" i="0" u="none" strike="noStrike" cap="none" normalizeH="0" baseline="0">
                <a:ln>
                  <a:noFill/>
                </a:ln>
                <a:solidFill>
                  <a:schemeClr val="tx1"/>
                </a:solidFill>
                <a:effectLst/>
                <a:latin typeface="Arial" panose="020B0604020202020204" pitchFamily="34" charset="0"/>
              </a:rPr>
              <a:t> Organize festivals in top-spending cities (e.g., Prague).</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Conclusion (Key finding overall):</a:t>
            </a:r>
            <a:endParaRPr lang="en-US"/>
          </a:p>
        </p:txBody>
      </p:sp>
      <p:sp>
        <p:nvSpPr>
          <p:cNvPr id="4" name="Rectangle 1"/>
          <p:cNvSpPr>
            <a:spLocks noGrp="1" noChangeArrowheads="1"/>
          </p:cNvSpPr>
          <p:nvPr>
            <p:ph type="body" idx="1"/>
          </p:nvPr>
        </p:nvSpPr>
        <p:spPr bwMode="auto">
          <a:xfrm>
            <a:off x="838200" y="1890975"/>
            <a:ext cx="888056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solidFill>
                  <a:schemeClr val="tx1"/>
                </a:solidFill>
                <a:effectLst/>
                <a:latin typeface="Arial" panose="020B0604020202020204" pitchFamily="34" charset="0"/>
              </a:rPr>
              <a:t>  Rock is the dominant genre across multiple countries.</a:t>
            </a: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solidFill>
                  <a:schemeClr val="tx1"/>
                </a:solidFill>
                <a:effectLst/>
                <a:latin typeface="Arial" panose="020B0604020202020204" pitchFamily="34" charset="0"/>
              </a:rPr>
              <a:t>  Few customers (VIPs) contribute to majority of sales.</a:t>
            </a: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solidFill>
                  <a:schemeClr val="tx1"/>
                </a:solidFill>
                <a:effectLst/>
                <a:latin typeface="Arial" panose="020B0604020202020204" pitchFamily="34" charset="0"/>
              </a:rPr>
              <a:t>  Certain cities/countries are hotspots for revenue.</a:t>
            </a:r>
            <a:endParaRPr kumimoji="0" lang="en-US" altLang="en-US" sz="24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a:ln>
                  <a:noFill/>
                </a:ln>
                <a:solidFill>
                  <a:schemeClr val="tx1"/>
                </a:solidFill>
                <a:effectLst/>
                <a:latin typeface="Arial" panose="020B0604020202020204" pitchFamily="34" charset="0"/>
              </a:rPr>
              <a:t>  SQL analysis helps in identifying </a:t>
            </a:r>
            <a:r>
              <a:rPr kumimoji="0" lang="en-US" altLang="en-US" sz="2400" b="1" i="0" u="none" strike="noStrike" cap="none" normalizeH="0" baseline="0">
                <a:ln>
                  <a:noFill/>
                </a:ln>
                <a:solidFill>
                  <a:schemeClr val="tx1"/>
                </a:solidFill>
                <a:effectLst/>
                <a:latin typeface="Arial" panose="020B0604020202020204" pitchFamily="34" charset="0"/>
              </a:rPr>
              <a:t>who, what, and where</a:t>
            </a:r>
            <a:r>
              <a:rPr kumimoji="0" lang="en-US" altLang="en-US" sz="2400" b="0" i="0" u="none" strike="noStrike" cap="none" normalizeH="0" baseline="0">
                <a:ln>
                  <a:noFill/>
                </a:ln>
                <a:solidFill>
                  <a:schemeClr val="tx1"/>
                </a:solidFill>
                <a:effectLst/>
                <a:latin typeface="Arial" panose="020B0604020202020204" pitchFamily="34" charset="0"/>
              </a:rPr>
              <a:t> to focus business strategies.</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Experience &amp; Challenges:</a:t>
            </a:r>
            <a:endParaRPr lang="en-US" b="1"/>
          </a:p>
        </p:txBody>
      </p:sp>
      <p:sp>
        <p:nvSpPr>
          <p:cNvPr id="3" name="Text Placeholder 2"/>
          <p:cNvSpPr>
            <a:spLocks noGrp="1"/>
          </p:cNvSpPr>
          <p:nvPr>
            <p:ph type="body" idx="1"/>
          </p:nvPr>
        </p:nvSpPr>
        <p:spPr>
          <a:xfrm>
            <a:off x="838200" y="1690688"/>
            <a:ext cx="10515600" cy="4351338"/>
          </a:xfrm>
        </p:spPr>
        <p:txBody>
          <a:bodyPr>
            <a:normAutofit/>
          </a:bodyPr>
          <a:lstStyle/>
          <a:p>
            <a:pPr marL="114300" indent="0">
              <a:buNone/>
            </a:pPr>
            <a:r>
              <a:rPr lang="en-US" b="1"/>
              <a:t>Experience:</a:t>
            </a:r>
            <a:endParaRPr lang="en-US"/>
          </a:p>
          <a:p>
            <a:pPr algn="just"/>
            <a:r>
              <a:rPr lang="en-US" sz="2000"/>
              <a:t>Applied SQL joins, subqueries, aggregations on a real dataset.</a:t>
            </a:r>
            <a:endParaRPr lang="en-US" sz="2000"/>
          </a:p>
          <a:p>
            <a:pPr algn="just"/>
            <a:r>
              <a:rPr lang="en-US" sz="2000"/>
              <a:t>Learned database design and relational schema building.</a:t>
            </a:r>
            <a:endParaRPr lang="en-US" sz="2000"/>
          </a:p>
          <a:p>
            <a:pPr marL="114300" indent="0">
              <a:buNone/>
            </a:pPr>
            <a:r>
              <a:rPr lang="en-US" sz="2400" b="1"/>
              <a:t>Challenges Faced:</a:t>
            </a:r>
            <a:endParaRPr lang="en-US" sz="2400"/>
          </a:p>
          <a:p>
            <a:r>
              <a:rPr lang="en-US" sz="2000"/>
              <a:t>Handling large CSV imports (track, invoice Line).</a:t>
            </a:r>
            <a:endParaRPr lang="en-US" sz="2000"/>
          </a:p>
          <a:p>
            <a:r>
              <a:rPr lang="en-US" sz="2000"/>
              <a:t>Understanding foreign key relationships while writing joins.</a:t>
            </a:r>
            <a:endParaRPr lang="en-US" sz="2000"/>
          </a:p>
          <a:p>
            <a:r>
              <a:rPr lang="en-US" sz="2000"/>
              <a:t>Aggregating across multiple tables for business logic (top customer/genre).</a:t>
            </a:r>
            <a:endParaRPr lang="en-US" sz="2000"/>
          </a:p>
          <a:p>
            <a:pPr marL="114300" indent="0">
              <a:buNone/>
            </a:pPr>
            <a:r>
              <a:rPr lang="en-US" sz="2400" b="1"/>
              <a:t>Outcome:</a:t>
            </a:r>
            <a:endParaRPr lang="en-US" sz="2400"/>
          </a:p>
          <a:p>
            <a:r>
              <a:rPr lang="en-US" sz="2000"/>
              <a:t>Improved confidence in SQL.</a:t>
            </a:r>
            <a:endParaRPr lang="en-US" sz="2000"/>
          </a:p>
          <a:p>
            <a:r>
              <a:rPr lang="en-US" sz="2000"/>
              <a:t>Ability to derive insights from raw relational data.</a:t>
            </a:r>
            <a:endParaRPr lang="en-US" sz="2000"/>
          </a:p>
          <a:p>
            <a:pPr marL="114300" indent="0" algn="just">
              <a:buNone/>
            </a:pPr>
            <a:endParaRPr lang="en-US" sz="2400"/>
          </a:p>
          <a:p>
            <a:pPr marL="114300" indent="0">
              <a:buNone/>
            </a:pP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3321050" y="2804795"/>
            <a:ext cx="3662045" cy="16878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a:t>
            </a:r>
            <a:r>
              <a:rPr lang="en-US" alt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                        </a:t>
            </a: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5759</Words>
  <Application>WPS Presentation</Application>
  <PresentationFormat>Widescreen</PresentationFormat>
  <Paragraphs>157</Paragraphs>
  <Slides>24</Slides>
  <Notes>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Arial</vt:lpstr>
      <vt:lpstr>SimSun</vt:lpstr>
      <vt:lpstr>Wingdings</vt:lpstr>
      <vt:lpstr>Arial</vt:lpstr>
      <vt:lpstr>Calibri</vt:lpstr>
      <vt:lpstr>Times New Roman</vt:lpstr>
      <vt:lpstr>Microsoft YaHei</vt:lpstr>
      <vt:lpstr>Arial Unicode MS</vt:lpstr>
      <vt:lpstr>Libre Baskerville</vt:lpstr>
      <vt:lpstr>Office Theme</vt:lpstr>
      <vt:lpstr>PowerPoint 演示文稿</vt:lpstr>
      <vt:lpstr>Agenda  </vt:lpstr>
      <vt:lpstr>Introduction</vt:lpstr>
      <vt:lpstr>Problem Statement</vt:lpstr>
      <vt:lpstr>Objective of the Project:</vt:lpstr>
      <vt:lpstr>Schema Tables &amp; Relationships:</vt:lpstr>
      <vt:lpstr>Tables</vt:lpstr>
      <vt:lpstr>Tables</vt:lpstr>
      <vt:lpstr>Tables</vt:lpstr>
      <vt:lpstr>Tables</vt:lpstr>
      <vt:lpstr>Tables</vt:lpstr>
      <vt:lpstr>ER Diagram: </vt:lpstr>
      <vt:lpstr>Key analysis questions (use cases):</vt:lpstr>
      <vt:lpstr>SQL query results with screenshots:</vt:lpstr>
      <vt:lpstr>PowerPoint 演示文稿</vt:lpstr>
      <vt:lpstr>PowerPoint 演示文稿</vt:lpstr>
      <vt:lpstr>PowerPoint 演示文稿</vt:lpstr>
      <vt:lpstr>PowerPoint 演示文稿</vt:lpstr>
      <vt:lpstr>PowerPoint 演示文稿</vt:lpstr>
      <vt:lpstr>PowerPoint 演示文稿</vt:lpstr>
      <vt:lpstr>Final business insights and recommendations:</vt:lpstr>
      <vt:lpstr>Conclusion (Key finding overall):</vt:lpstr>
      <vt:lpstr>Experience &amp; Challenges: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paturi madhu</cp:lastModifiedBy>
  <cp:revision>7</cp:revision>
  <dcterms:created xsi:type="dcterms:W3CDTF">2021-02-16T05:19:00Z</dcterms:created>
  <dcterms:modified xsi:type="dcterms:W3CDTF">2025-12-08T10:15:39Z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F86D2FA764254ADFB5F526F3EA96AFEA_12</vt:lpwstr>
  </property>
  <property fmtid="{D5CDD505-2E9C-101B-9397-08002B2CF9AE}" pid="3" name="KSOProductBuildVer">
    <vt:lpwstr>1033-12.2.0.23155</vt:lpwstr>
  </property>
</Properties>
</file>